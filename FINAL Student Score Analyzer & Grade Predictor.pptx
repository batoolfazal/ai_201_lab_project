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pen Sauce" charset="1" panose="00000500000000000000"/>
      <p:regular r:id="rId13"/>
    </p:embeddedFont>
    <p:embeddedFont>
      <p:font typeface="Open Sauce Bold" charset="1" panose="00000800000000000000"/>
      <p:regular r:id="rId14"/>
    </p:embeddedFont>
    <p:embeddedFont>
      <p:font typeface="Open Sauce Bold Italics" charset="1" panose="000008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3450" y="2620408"/>
            <a:ext cx="7762634" cy="476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8"/>
              </a:lnSpc>
            </a:pPr>
            <a:r>
              <a:rPr lang="en-US" sz="9278" spc="-556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Student Score Analyzer &amp; Grade Predictor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169796" y="7702396"/>
            <a:ext cx="4560684" cy="1555904"/>
            <a:chOff x="0" y="0"/>
            <a:chExt cx="6080912" cy="207453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38100"/>
              <a:ext cx="6080912" cy="1262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400"/>
                </a:lnSpc>
              </a:pPr>
              <a:r>
                <a:rPr lang="en-US" b="true" sz="2400" spc="240">
                  <a:solidFill>
                    <a:srgbClr val="8C7753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TEAM MEMBERS:</a:t>
              </a:r>
            </a:p>
            <a:p>
              <a:pPr algn="r">
                <a:lnSpc>
                  <a:spcPts val="2400"/>
                </a:lnSpc>
              </a:pPr>
            </a:p>
            <a:p>
              <a:pPr algn="r">
                <a:lnSpc>
                  <a:spcPts val="2400"/>
                </a:lnSpc>
                <a:spcBef>
                  <a:spcPct val="0"/>
                </a:spcBef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12134"/>
              <a:ext cx="6080912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40"/>
                </a:lnSpc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Batool Binte Fazal (2024140)</a:t>
              </a:r>
            </a:p>
            <a:p>
              <a:pPr algn="just">
                <a:lnSpc>
                  <a:spcPts val="2940"/>
                </a:lnSpc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Rida Syed (2024540)</a:t>
              </a:r>
            </a:p>
            <a:p>
              <a:pPr algn="just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076325"/>
            <a:ext cx="6723858" cy="54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25"/>
              </a:lnSpc>
            </a:pPr>
            <a:r>
              <a:rPr lang="en-US" b="true" sz="2125" spc="212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AI-201 LAB FINAL PROJECT</a:t>
            </a:r>
          </a:p>
          <a:p>
            <a:pPr algn="just">
              <a:lnSpc>
                <a:spcPts val="2125"/>
              </a:lnSpc>
              <a:spcBef>
                <a:spcPct val="0"/>
              </a:spcBef>
            </a:pPr>
            <a:r>
              <a:rPr lang="en-US" b="true" sz="2125" spc="212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INSTRUCTOR: MR. AAMIR MAAROFI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606501"/>
            <a:ext cx="6723858" cy="54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25"/>
              </a:lnSpc>
              <a:spcBef>
                <a:spcPct val="0"/>
              </a:spcBef>
            </a:pPr>
            <a:r>
              <a:rPr lang="en-US" b="true" sz="2125" spc="212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AI-POWERED ACADEMIC PERFORMANCE ANALYSIS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860684"/>
            <a:ext cx="1050505" cy="1263766"/>
          </a:xfrm>
          <a:custGeom>
            <a:avLst/>
            <a:gdLst/>
            <a:ahLst/>
            <a:cxnLst/>
            <a:rect r="r" b="b" t="t" l="l"/>
            <a:pathLst>
              <a:path h="1263766" w="1050505">
                <a:moveTo>
                  <a:pt x="0" y="0"/>
                </a:moveTo>
                <a:lnTo>
                  <a:pt x="1050505" y="0"/>
                </a:lnTo>
                <a:lnTo>
                  <a:pt x="1050505" y="1263766"/>
                </a:lnTo>
                <a:lnTo>
                  <a:pt x="0" y="126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84682" y="3777522"/>
            <a:ext cx="1483618" cy="1537428"/>
          </a:xfrm>
          <a:custGeom>
            <a:avLst/>
            <a:gdLst/>
            <a:ahLst/>
            <a:cxnLst/>
            <a:rect r="r" b="b" t="t" l="l"/>
            <a:pathLst>
              <a:path h="1537428" w="1483618">
                <a:moveTo>
                  <a:pt x="0" y="0"/>
                </a:moveTo>
                <a:lnTo>
                  <a:pt x="1483618" y="0"/>
                </a:lnTo>
                <a:lnTo>
                  <a:pt x="1483618" y="1537428"/>
                </a:lnTo>
                <a:lnTo>
                  <a:pt x="0" y="15374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25038" y="3555884"/>
            <a:ext cx="811369" cy="1759066"/>
          </a:xfrm>
          <a:custGeom>
            <a:avLst/>
            <a:gdLst/>
            <a:ahLst/>
            <a:cxnLst/>
            <a:rect r="r" b="b" t="t" l="l"/>
            <a:pathLst>
              <a:path h="1759066" w="811369">
                <a:moveTo>
                  <a:pt x="0" y="0"/>
                </a:moveTo>
                <a:lnTo>
                  <a:pt x="811369" y="0"/>
                </a:lnTo>
                <a:lnTo>
                  <a:pt x="811369" y="1759066"/>
                </a:lnTo>
                <a:lnTo>
                  <a:pt x="0" y="17590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Project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667375"/>
            <a:ext cx="27468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425565"/>
            <a:ext cx="4310172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Early identification of at-risk students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Predicting performance before exams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Manual dataset analysis is time-consuming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988914" y="5667375"/>
            <a:ext cx="27468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Solution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88914" y="6425565"/>
            <a:ext cx="4310172" cy="333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Predicts scores with high accuracy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Identifies at-risk students (Low/Medium/High risk)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Analyzes study time, parental education, test prep impact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One-click predictions &amp; insights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949128" y="5667375"/>
            <a:ext cx="27468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Dataset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49128" y="6425565"/>
            <a:ext cx="4310172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Source: Kaggle - Students Performance in Exams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Size: ~1000 records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Demographics: gender, race/ethnicity, parental education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01097" y="-670792"/>
            <a:ext cx="22414993" cy="12568681"/>
            <a:chOff x="0" y="0"/>
            <a:chExt cx="1811948" cy="10160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1948" cy="1016007"/>
            </a:xfrm>
            <a:custGeom>
              <a:avLst/>
              <a:gdLst/>
              <a:ahLst/>
              <a:cxnLst/>
              <a:rect r="r" b="b" t="t" l="l"/>
              <a:pathLst>
                <a:path h="1016007" w="1811948">
                  <a:moveTo>
                    <a:pt x="1811948" y="0"/>
                  </a:moveTo>
                  <a:lnTo>
                    <a:pt x="1811948" y="901707"/>
                  </a:lnTo>
                  <a:lnTo>
                    <a:pt x="905974" y="1016007"/>
                  </a:lnTo>
                  <a:lnTo>
                    <a:pt x="0" y="901707"/>
                  </a:lnTo>
                  <a:lnTo>
                    <a:pt x="0" y="0"/>
                  </a:lnTo>
                  <a:lnTo>
                    <a:pt x="1811948" y="0"/>
                  </a:lnTo>
                  <a:close/>
                </a:path>
              </a:pathLst>
            </a:custGeom>
            <a:solidFill>
              <a:srgbClr val="FAF7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11948" cy="949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989777"/>
            <a:ext cx="8115300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System Architecture and OOP Design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883027"/>
            <a:ext cx="5215772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1. DataCleaner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Removes null values and duplicates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Encodes categorical variables using LabelEncoder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Validates required columns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Exception handling for invalid datasets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057275"/>
            <a:ext cx="7342398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CONCEPTS USED</a:t>
            </a:r>
          </a:p>
          <a:p>
            <a:pPr algn="just">
              <a:lnSpc>
                <a:spcPts val="180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780992" y="3883027"/>
            <a:ext cx="4482091" cy="2489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 FeatureEngineer (NumPy)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Performance Index: </a:t>
            </a:r>
          </a:p>
          <a:p>
            <a:pPr algn="ctr">
              <a:lnSpc>
                <a:spcPts val="2100"/>
              </a:lnSpc>
            </a:pPr>
            <a:r>
              <a:rPr lang="en-US" b="true" sz="1500" i="true">
                <a:solidFill>
                  <a:srgbClr val="331B0D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PI = 0.5×math + 0.3×reading + 0.2×writing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Z-score outlier detection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Percentile ranking using np.percentile()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859875" y="3822383"/>
            <a:ext cx="4238166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3. ModelTrainer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Trains 3 ML models with StandardScaler pipeline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Train/test split (80/20)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Model evaluation with multiple metrics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475357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6 CORE CLASSES IMPLEMENTATION: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163437"/>
            <a:ext cx="5215772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4. Visualizer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Generates 4 Matplotlib plots with advanced styling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3D scatter using Axes3D, gradient coloring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Statistical overlays and correlation analysis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6780992" y="7163437"/>
            <a:ext cx="4482091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5. Predictor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Real-time predictions (score, grade, pass/fail, risk level)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Grade conversion (A/B/C/D/F)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2859875" y="7163437"/>
            <a:ext cx="4238166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331B0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6. ModelPersistence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Saves/loads models using Pickle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Persistent scaler and feature names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57275"/>
            <a:ext cx="367746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LIBRARIES USED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69090" y="2647950"/>
            <a:ext cx="56068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Advanced NumPy Operations: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69090" y="3227070"/>
            <a:ext cx="5606820" cy="434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Z-score: identifies outliers where |z| &gt; 2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Percentile ranking: compares student to entire cohort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Polynomial interactions: study_time × parental_education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Weighted performance index using NumPy arrays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652480" y="2647950"/>
            <a:ext cx="56068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Visualization using Matplotlib: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52480" y="3227070"/>
            <a:ext cx="5606820" cy="385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Histogram with gradient coloring 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Bar chart with error bars and statistical overlays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Donut pie chart for demographics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3D scatter plot (Study Time × Parental Education × Score) with correlation statistics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00241" y="1762745"/>
            <a:ext cx="15144518" cy="539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1"/>
              </a:lnSpc>
            </a:pPr>
            <a:r>
              <a:rPr lang="en-US" sz="4001" spc="-24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MACHINE LEARNING MODELS &amp; ADVANCED 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236595"/>
            <a:ext cx="3677466" cy="6157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6"/>
              </a:lnSpc>
            </a:pPr>
            <a:r>
              <a:rPr lang="en-US" sz="236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Linear Regression: </a:t>
            </a:r>
          </a:p>
          <a:p>
            <a:pPr algn="l" marL="509602" indent="-254801" lvl="1">
              <a:lnSpc>
                <a:spcPts val="3776"/>
              </a:lnSpc>
              <a:buFont typeface="Arial"/>
              <a:buChar char="•"/>
            </a:pPr>
            <a:r>
              <a:rPr lang="en-US" sz="236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Score prediction (0-100)</a:t>
            </a:r>
          </a:p>
          <a:p>
            <a:pPr algn="l" marL="509602" indent="-254801" lvl="1">
              <a:lnSpc>
                <a:spcPts val="3776"/>
              </a:lnSpc>
              <a:buFont typeface="Arial"/>
              <a:buChar char="•"/>
            </a:pPr>
            <a:r>
              <a:rPr lang="en-US" sz="236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Metrics: RMSE, R²</a:t>
            </a:r>
          </a:p>
          <a:p>
            <a:pPr algn="l">
              <a:lnSpc>
                <a:spcPts val="3776"/>
              </a:lnSpc>
            </a:pPr>
            <a:r>
              <a:rPr lang="en-US" sz="236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Logistic Regression:</a:t>
            </a:r>
          </a:p>
          <a:p>
            <a:pPr algn="l" marL="509602" indent="-254801" lvl="1">
              <a:lnSpc>
                <a:spcPts val="3776"/>
              </a:lnSpc>
              <a:buFont typeface="Arial"/>
              <a:buChar char="•"/>
            </a:pPr>
            <a:r>
              <a:rPr lang="en-US" sz="236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Pass/Fail classification</a:t>
            </a:r>
          </a:p>
          <a:p>
            <a:pPr algn="l" marL="509602" indent="-254801" lvl="1">
              <a:lnSpc>
                <a:spcPts val="3776"/>
              </a:lnSpc>
              <a:buFont typeface="Arial"/>
              <a:buChar char="•"/>
            </a:pPr>
            <a:r>
              <a:rPr lang="en-US" sz="236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Accuracy</a:t>
            </a:r>
          </a:p>
          <a:p>
            <a:pPr algn="l">
              <a:lnSpc>
                <a:spcPts val="3776"/>
              </a:lnSpc>
            </a:pPr>
            <a:r>
              <a:rPr lang="en-US" sz="236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K-Nearest Neighbors:</a:t>
            </a:r>
          </a:p>
          <a:p>
            <a:pPr algn="l" marL="509602" indent="-254801" lvl="1">
              <a:lnSpc>
                <a:spcPts val="3776"/>
              </a:lnSpc>
              <a:buFont typeface="Arial"/>
              <a:buChar char="•"/>
            </a:pPr>
            <a:r>
              <a:rPr lang="en-US" sz="236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Risk assessment</a:t>
            </a:r>
          </a:p>
          <a:p>
            <a:pPr algn="l" marL="509602" indent="-254801" lvl="1">
              <a:lnSpc>
                <a:spcPts val="3776"/>
              </a:lnSpc>
              <a:buFont typeface="Arial"/>
              <a:buChar char="•"/>
            </a:pPr>
            <a:r>
              <a:rPr lang="en-US" sz="236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KNeighborsClassifier (k=5)</a:t>
            </a:r>
          </a:p>
          <a:p>
            <a:pPr algn="l" marL="0" indent="0" lvl="0">
              <a:lnSpc>
                <a:spcPts val="3776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649855"/>
            <a:ext cx="56068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Three ML Models: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62744" y="1165860"/>
            <a:ext cx="7096556" cy="3078131"/>
          </a:xfrm>
          <a:custGeom>
            <a:avLst/>
            <a:gdLst/>
            <a:ahLst/>
            <a:cxnLst/>
            <a:rect r="r" b="b" t="t" l="l"/>
            <a:pathLst>
              <a:path h="3078131" w="7096556">
                <a:moveTo>
                  <a:pt x="0" y="0"/>
                </a:moveTo>
                <a:lnTo>
                  <a:pt x="7096556" y="0"/>
                </a:lnTo>
                <a:lnTo>
                  <a:pt x="7096556" y="3078131"/>
                </a:lnTo>
                <a:lnTo>
                  <a:pt x="0" y="307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62744" y="4660313"/>
            <a:ext cx="7202788" cy="3608622"/>
          </a:xfrm>
          <a:custGeom>
            <a:avLst/>
            <a:gdLst/>
            <a:ahLst/>
            <a:cxnLst/>
            <a:rect r="r" b="b" t="t" l="l"/>
            <a:pathLst>
              <a:path h="3608622" w="7202788">
                <a:moveTo>
                  <a:pt x="0" y="0"/>
                </a:moveTo>
                <a:lnTo>
                  <a:pt x="7202788" y="0"/>
                </a:lnTo>
                <a:lnTo>
                  <a:pt x="7202788" y="3608623"/>
                </a:lnTo>
                <a:lnTo>
                  <a:pt x="0" y="36086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883" r="0" b="-788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Technology Stack and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845516"/>
            <a:ext cx="6999640" cy="580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Core Libraries: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NumPy: Advanced numerical computations, vectorized operations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Pandas: Data analysis, GroupBy operations, Q&amp;A style analytics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Matplotlib: 4 visualizations including 3D scatter (mpl_toolkits.mplot3d)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Scikit-learn: ML models, StandardScaler, train_test_split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Streamlit: Interactive web dashboard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Pickle: Model persistence and reloading</a:t>
            </a: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057275"/>
            <a:ext cx="3499820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TECHNOLOGIES USED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2281" y="3386506"/>
            <a:ext cx="8220845" cy="4480361"/>
          </a:xfrm>
          <a:custGeom>
            <a:avLst/>
            <a:gdLst/>
            <a:ahLst/>
            <a:cxnLst/>
            <a:rect r="r" b="b" t="t" l="l"/>
            <a:pathLst>
              <a:path h="4480361" w="8220845">
                <a:moveTo>
                  <a:pt x="0" y="0"/>
                </a:moveTo>
                <a:lnTo>
                  <a:pt x="8220845" y="0"/>
                </a:lnTo>
                <a:lnTo>
                  <a:pt x="8220845" y="4480361"/>
                </a:lnTo>
                <a:lnTo>
                  <a:pt x="0" y="44803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12749" y="1065852"/>
            <a:ext cx="7342398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Project Summary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12749" y="2134246"/>
            <a:ext cx="367119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features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16902" y="2783054"/>
            <a:ext cx="7342398" cy="333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Complete ML Pipeline: Data cleaning → Feature engineering → Training → Prediction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Advanced Analytics: Percentile ranking, z-score outliers, polynomial features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Interactive Dashboard: Streamlit web app with CSV upload &amp; real-time predictions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Production Ready: Exception handling, model save/load, scalable OOP design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912749" y="6072989"/>
            <a:ext cx="447374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Real-World Impact: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16902" y="6726404"/>
            <a:ext cx="7342398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This system enables educational institutions to make data-driven decisions, identify struggling students early, and provide timely interventions - transforming raw academic data into actionable insights that improve student outcomes.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23690" y="2603984"/>
            <a:ext cx="535802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Loaded in Streamlit Web App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3450" y="2696608"/>
            <a:ext cx="10910528" cy="173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Thankyou!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169796" y="7702396"/>
            <a:ext cx="4560684" cy="1555904"/>
            <a:chOff x="0" y="0"/>
            <a:chExt cx="6080912" cy="207453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38100"/>
              <a:ext cx="6080912" cy="1262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400"/>
                </a:lnSpc>
              </a:pPr>
              <a:r>
                <a:rPr lang="en-US" b="true" sz="2400" spc="240">
                  <a:solidFill>
                    <a:srgbClr val="8C7753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TEAM MEMBERS:</a:t>
              </a:r>
            </a:p>
            <a:p>
              <a:pPr algn="r">
                <a:lnSpc>
                  <a:spcPts val="2400"/>
                </a:lnSpc>
              </a:pPr>
            </a:p>
            <a:p>
              <a:pPr algn="r">
                <a:lnSpc>
                  <a:spcPts val="2400"/>
                </a:lnSpc>
                <a:spcBef>
                  <a:spcPct val="0"/>
                </a:spcBef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12134"/>
              <a:ext cx="6080912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40"/>
                </a:lnSpc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Batool Binte Fazal (2024140)</a:t>
              </a:r>
            </a:p>
            <a:p>
              <a:pPr algn="just">
                <a:lnSpc>
                  <a:spcPts val="2940"/>
                </a:lnSpc>
              </a:pPr>
              <a:r>
                <a:rPr lang="en-US" sz="2100">
                  <a:solidFill>
                    <a:srgbClr val="331B0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Rida Syed (2024540)</a:t>
              </a:r>
            </a:p>
            <a:p>
              <a:pPr algn="just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076325"/>
            <a:ext cx="6723858" cy="54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25"/>
              </a:lnSpc>
            </a:pPr>
            <a:r>
              <a:rPr lang="en-US" b="true" sz="2125" spc="212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AI-201 LAB FINAL PROJECT</a:t>
            </a:r>
          </a:p>
          <a:p>
            <a:pPr algn="just">
              <a:lnSpc>
                <a:spcPts val="2125"/>
              </a:lnSpc>
              <a:spcBef>
                <a:spcPct val="0"/>
              </a:spcBef>
            </a:pPr>
            <a:r>
              <a:rPr lang="en-US" b="true" sz="2125" spc="212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INSTRUCTOR: MR. AAMIR MAAROFI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DAG7pj6bxVk</dc:identifier>
  <dcterms:modified xsi:type="dcterms:W3CDTF">2011-08-01T06:04:30Z</dcterms:modified>
  <cp:revision>1</cp:revision>
  <dc:title>FINAL Student Score Analyzer &amp; Grade Predictor</dc:title>
</cp:coreProperties>
</file>